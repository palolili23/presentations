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61" r:id="rId2"/>
    <p:sldId id="263" r:id="rId3"/>
    <p:sldId id="264" r:id="rId4"/>
    <p:sldId id="262" r:id="rId5"/>
  </p:sldIdLst>
  <p:sldSz cx="109728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4"/>
    <p:restoredTop sz="94714"/>
  </p:normalViewPr>
  <p:slideViewPr>
    <p:cSldViewPr snapToGrid="0">
      <p:cViewPr>
        <p:scale>
          <a:sx n="156" d="100"/>
          <a:sy n="156" d="100"/>
        </p:scale>
        <p:origin x="280" y="632"/>
      </p:cViewPr>
      <p:guideLst>
        <p:guide orient="horz" pos="1296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73418"/>
            <a:ext cx="822960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61223"/>
            <a:ext cx="82296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2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76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025843"/>
            <a:ext cx="946404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2753678"/>
            <a:ext cx="946404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2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095375"/>
            <a:ext cx="466344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095375"/>
            <a:ext cx="466344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7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219075"/>
            <a:ext cx="946404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008698"/>
            <a:ext cx="4642008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1503045"/>
            <a:ext cx="4642008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008698"/>
            <a:ext cx="4664869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1503045"/>
            <a:ext cx="4664869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1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5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2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74320"/>
            <a:ext cx="3539013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592455"/>
            <a:ext cx="555498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234440"/>
            <a:ext cx="3539013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3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74320"/>
            <a:ext cx="3539013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592455"/>
            <a:ext cx="555498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234440"/>
            <a:ext cx="3539013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1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219075"/>
            <a:ext cx="2366010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219075"/>
            <a:ext cx="6960870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2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219075"/>
            <a:ext cx="946404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095375"/>
            <a:ext cx="946404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3813810"/>
            <a:ext cx="246888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20215-300A-AF49-B47A-BCD480316D4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3813810"/>
            <a:ext cx="370332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3813810"/>
            <a:ext cx="246888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FC83F9-0679-5145-B84C-92AB5AEA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2A82-496A-AED6-9764-3B3D88C9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2816EBDF-526C-455B-4ECA-4953BCC436B0}"/>
              </a:ext>
            </a:extLst>
          </p:cNvPr>
          <p:cNvGrpSpPr/>
          <p:nvPr/>
        </p:nvGrpSpPr>
        <p:grpSpPr>
          <a:xfrm>
            <a:off x="1805821" y="277507"/>
            <a:ext cx="9109980" cy="2184062"/>
            <a:chOff x="1579491" y="277507"/>
            <a:chExt cx="9109980" cy="218406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E174740-5992-B75F-0893-D32B0D8C6486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H="1">
              <a:off x="4266417" y="277507"/>
              <a:ext cx="3810" cy="40808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ACDC7B4-C7AA-F4D6-EC46-0CDB927D8E2B}"/>
                </a:ext>
              </a:extLst>
            </p:cNvPr>
            <p:cNvCxnSpPr>
              <a:cxnSpLocks/>
            </p:cNvCxnSpPr>
            <p:nvPr/>
          </p:nvCxnSpPr>
          <p:spPr>
            <a:xfrm>
              <a:off x="6460653" y="1623117"/>
              <a:ext cx="2421014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9D461CE-AA8F-D919-4D07-9F1A8C759323}"/>
                </a:ext>
              </a:extLst>
            </p:cNvPr>
            <p:cNvCxnSpPr>
              <a:cxnSpLocks/>
            </p:cNvCxnSpPr>
            <p:nvPr/>
          </p:nvCxnSpPr>
          <p:spPr>
            <a:xfrm>
              <a:off x="1933949" y="1607741"/>
              <a:ext cx="4945708" cy="15376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111333-176C-3806-706F-AF8766D8256F}"/>
                </a:ext>
              </a:extLst>
            </p:cNvPr>
            <p:cNvSpPr/>
            <p:nvPr/>
          </p:nvSpPr>
          <p:spPr>
            <a:xfrm>
              <a:off x="3782941" y="685587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13E1FD-4E04-8E9D-26D4-D6C04270A58E}"/>
                </a:ext>
              </a:extLst>
            </p:cNvPr>
            <p:cNvSpPr txBox="1"/>
            <p:nvPr/>
          </p:nvSpPr>
          <p:spPr>
            <a:xfrm>
              <a:off x="1579491" y="543134"/>
              <a:ext cx="205201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Time-varying exposure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037A9F-4E5D-CFA0-C80E-FC783B959A1E}"/>
                </a:ext>
              </a:extLst>
            </p:cNvPr>
            <p:cNvSpPr txBox="1"/>
            <p:nvPr/>
          </p:nvSpPr>
          <p:spPr>
            <a:xfrm>
              <a:off x="2193286" y="1628551"/>
              <a:ext cx="9802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7030A0"/>
                  </a:solidFill>
                </a:rPr>
                <a:t>Time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5E0C33-F678-38CB-A8AE-76469D2411A8}"/>
                </a:ext>
              </a:extLst>
            </p:cNvPr>
            <p:cNvSpPr/>
            <p:nvPr/>
          </p:nvSpPr>
          <p:spPr>
            <a:xfrm>
              <a:off x="7771392" y="685587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C244A6-BEFF-D8DD-AADF-BEAF5F5FCD11}"/>
                </a:ext>
              </a:extLst>
            </p:cNvPr>
            <p:cNvSpPr txBox="1"/>
            <p:nvPr/>
          </p:nvSpPr>
          <p:spPr>
            <a:xfrm>
              <a:off x="4122018" y="1559290"/>
              <a:ext cx="414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1</a:t>
              </a:r>
              <a:endParaRPr lang="en-US" sz="2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EB2F6E5-98EE-0167-D1EB-06C539AC7965}"/>
                </a:ext>
              </a:extLst>
            </p:cNvPr>
            <p:cNvSpPr txBox="1"/>
            <p:nvPr/>
          </p:nvSpPr>
          <p:spPr>
            <a:xfrm>
              <a:off x="6019357" y="1580961"/>
              <a:ext cx="414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2</a:t>
              </a:r>
              <a:endParaRPr lang="en-US" sz="24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416D515-E647-43E0-6E91-31894AC234E6}"/>
                </a:ext>
              </a:extLst>
            </p:cNvPr>
            <p:cNvSpPr txBox="1"/>
            <p:nvPr/>
          </p:nvSpPr>
          <p:spPr>
            <a:xfrm flipH="1">
              <a:off x="8207703" y="1580961"/>
              <a:ext cx="41408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n</a:t>
              </a:r>
              <a:endParaRPr lang="en-US" sz="2400" b="1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989ED56-E5D2-ABB2-B64A-1622BAAD17DF}"/>
                </a:ext>
              </a:extLst>
            </p:cNvPr>
            <p:cNvSpPr txBox="1"/>
            <p:nvPr/>
          </p:nvSpPr>
          <p:spPr>
            <a:xfrm>
              <a:off x="8738344" y="1353828"/>
              <a:ext cx="19511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</a:rPr>
                <a:t>Outcome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24FDBC1-FE82-8020-D354-5BA55043D638}"/>
                </a:ext>
              </a:extLst>
            </p:cNvPr>
            <p:cNvSpPr txBox="1"/>
            <p:nvPr/>
          </p:nvSpPr>
          <p:spPr>
            <a:xfrm>
              <a:off x="9134375" y="1846016"/>
              <a:ext cx="1189148" cy="61555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dk1"/>
                  </a:solidFill>
                </a:rPr>
                <a:t>dementia death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B3EB837-B29C-7795-7338-BF911BF3D296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4255646" y="1231680"/>
              <a:ext cx="10771" cy="39143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39B732E-04E2-AEEC-7443-C1510D720EB6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6217789" y="1234087"/>
              <a:ext cx="5839" cy="37606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C4E751D-C527-2206-0985-E66ABBE2CE74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8254868" y="1231680"/>
              <a:ext cx="4213" cy="355475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20719E5-0BF5-7D2E-E1D8-866175CDCCAA}"/>
                </a:ext>
              </a:extLst>
            </p:cNvPr>
            <p:cNvCxnSpPr>
              <a:cxnSpLocks/>
            </p:cNvCxnSpPr>
            <p:nvPr/>
          </p:nvCxnSpPr>
          <p:spPr>
            <a:xfrm>
              <a:off x="4255646" y="287749"/>
              <a:ext cx="554287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9787F9C-89A2-BBE1-CD15-3D8EF9E5138E}"/>
                </a:ext>
              </a:extLst>
            </p:cNvPr>
            <p:cNvCxnSpPr>
              <a:cxnSpLocks/>
            </p:cNvCxnSpPr>
            <p:nvPr/>
          </p:nvCxnSpPr>
          <p:spPr>
            <a:xfrm>
              <a:off x="6207018" y="305449"/>
              <a:ext cx="0" cy="37711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3F8843-8AFD-6D50-5BBA-33562B51FC65}"/>
                </a:ext>
              </a:extLst>
            </p:cNvPr>
            <p:cNvSpPr/>
            <p:nvPr/>
          </p:nvSpPr>
          <p:spPr>
            <a:xfrm>
              <a:off x="5734313" y="687994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FB4653-AFE6-ECE9-8972-CCD87CFEF62F}"/>
                </a:ext>
              </a:extLst>
            </p:cNvPr>
            <p:cNvCxnSpPr>
              <a:cxnSpLocks/>
            </p:cNvCxnSpPr>
            <p:nvPr/>
          </p:nvCxnSpPr>
          <p:spPr>
            <a:xfrm>
              <a:off x="8254868" y="287749"/>
              <a:ext cx="0" cy="38119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7385180-C96A-D070-4875-E37A978B7364}"/>
                </a:ext>
              </a:extLst>
            </p:cNvPr>
            <p:cNvCxnSpPr>
              <a:cxnSpLocks/>
            </p:cNvCxnSpPr>
            <p:nvPr/>
          </p:nvCxnSpPr>
          <p:spPr>
            <a:xfrm>
              <a:off x="9798518" y="287749"/>
              <a:ext cx="0" cy="106607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93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9AC4-F28C-D867-E04C-646EF3FE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5F254CF-B7D8-49EA-4D40-089B97E55A1D}"/>
              </a:ext>
            </a:extLst>
          </p:cNvPr>
          <p:cNvGrpSpPr/>
          <p:nvPr/>
        </p:nvGrpSpPr>
        <p:grpSpPr>
          <a:xfrm>
            <a:off x="1805821" y="277507"/>
            <a:ext cx="9109980" cy="2184062"/>
            <a:chOff x="1579491" y="277507"/>
            <a:chExt cx="9109980" cy="218406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BBA3296-4D99-728E-6EC7-358A70627E82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H="1">
              <a:off x="4266417" y="277507"/>
              <a:ext cx="3810" cy="40808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FA04D71-C79D-7D02-1888-811A43517342}"/>
                </a:ext>
              </a:extLst>
            </p:cNvPr>
            <p:cNvCxnSpPr>
              <a:cxnSpLocks/>
            </p:cNvCxnSpPr>
            <p:nvPr/>
          </p:nvCxnSpPr>
          <p:spPr>
            <a:xfrm>
              <a:off x="6460653" y="1623117"/>
              <a:ext cx="2421014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EB86D6A-FCE0-C81C-7887-C9ED6BDA3C1B}"/>
                </a:ext>
              </a:extLst>
            </p:cNvPr>
            <p:cNvCxnSpPr>
              <a:cxnSpLocks/>
            </p:cNvCxnSpPr>
            <p:nvPr/>
          </p:nvCxnSpPr>
          <p:spPr>
            <a:xfrm>
              <a:off x="1933949" y="1607741"/>
              <a:ext cx="4945708" cy="15376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3AC47F-6469-1A54-F6FC-306B00B95B4D}"/>
                </a:ext>
              </a:extLst>
            </p:cNvPr>
            <p:cNvSpPr/>
            <p:nvPr/>
          </p:nvSpPr>
          <p:spPr>
            <a:xfrm>
              <a:off x="3782941" y="685587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9855E6-20F9-5661-EED5-E1678794DCAA}"/>
                </a:ext>
              </a:extLst>
            </p:cNvPr>
            <p:cNvSpPr txBox="1"/>
            <p:nvPr/>
          </p:nvSpPr>
          <p:spPr>
            <a:xfrm>
              <a:off x="1579491" y="543134"/>
              <a:ext cx="205201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Time-varying exposure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60F69E-1620-0ACF-3075-B67BA37D46B5}"/>
                </a:ext>
              </a:extLst>
            </p:cNvPr>
            <p:cNvSpPr txBox="1"/>
            <p:nvPr/>
          </p:nvSpPr>
          <p:spPr>
            <a:xfrm>
              <a:off x="2193286" y="1628551"/>
              <a:ext cx="9802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7030A0"/>
                  </a:solidFill>
                </a:rPr>
                <a:t>Time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4CF1F2-D712-5287-F53B-11DF594468A7}"/>
                </a:ext>
              </a:extLst>
            </p:cNvPr>
            <p:cNvSpPr/>
            <p:nvPr/>
          </p:nvSpPr>
          <p:spPr>
            <a:xfrm>
              <a:off x="7771392" y="685587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CC66C7-C714-4591-E369-88B7EFEF3E43}"/>
                </a:ext>
              </a:extLst>
            </p:cNvPr>
            <p:cNvSpPr txBox="1"/>
            <p:nvPr/>
          </p:nvSpPr>
          <p:spPr>
            <a:xfrm>
              <a:off x="4122018" y="1559290"/>
              <a:ext cx="414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1</a:t>
              </a:r>
              <a:endParaRPr lang="en-US" sz="2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A548C95-ECD9-25BC-A393-BA1BD1F5C9D7}"/>
                </a:ext>
              </a:extLst>
            </p:cNvPr>
            <p:cNvSpPr txBox="1"/>
            <p:nvPr/>
          </p:nvSpPr>
          <p:spPr>
            <a:xfrm>
              <a:off x="6019357" y="1580961"/>
              <a:ext cx="414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2</a:t>
              </a:r>
              <a:endParaRPr lang="en-US" sz="24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7E24D2-069D-2CE5-C365-D15934784686}"/>
                </a:ext>
              </a:extLst>
            </p:cNvPr>
            <p:cNvSpPr txBox="1"/>
            <p:nvPr/>
          </p:nvSpPr>
          <p:spPr>
            <a:xfrm flipH="1">
              <a:off x="8207703" y="1580961"/>
              <a:ext cx="41408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n</a:t>
              </a:r>
              <a:endParaRPr lang="en-US" sz="2400" b="1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D61E339-72EA-5C17-E1F6-9CB4777CB200}"/>
                </a:ext>
              </a:extLst>
            </p:cNvPr>
            <p:cNvSpPr txBox="1"/>
            <p:nvPr/>
          </p:nvSpPr>
          <p:spPr>
            <a:xfrm>
              <a:off x="8738344" y="1353828"/>
              <a:ext cx="19511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</a:rPr>
                <a:t>Outcome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0BF414E-C2C9-AFEB-7234-16EB195B3563}"/>
                </a:ext>
              </a:extLst>
            </p:cNvPr>
            <p:cNvSpPr txBox="1"/>
            <p:nvPr/>
          </p:nvSpPr>
          <p:spPr>
            <a:xfrm>
              <a:off x="9134375" y="1846016"/>
              <a:ext cx="1189148" cy="61555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dk1"/>
                  </a:solidFill>
                </a:rPr>
                <a:t>dementia death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04F295D-B86E-9379-EDAA-9F17B83F81E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4255646" y="1231680"/>
              <a:ext cx="10771" cy="39143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8613371-4672-9E48-B3B0-365B5FF37D94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6217789" y="1234087"/>
              <a:ext cx="5839" cy="37606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FF02C9D-5126-210C-F915-E4E64E759D4F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8254868" y="1231680"/>
              <a:ext cx="4213" cy="355475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8AE64C4-9EA3-53AC-2BCC-AE990B296F94}"/>
                </a:ext>
              </a:extLst>
            </p:cNvPr>
            <p:cNvCxnSpPr>
              <a:cxnSpLocks/>
            </p:cNvCxnSpPr>
            <p:nvPr/>
          </p:nvCxnSpPr>
          <p:spPr>
            <a:xfrm>
              <a:off x="4255646" y="287749"/>
              <a:ext cx="554287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BD53494-E4F0-9782-D8B8-694662A1A64E}"/>
                </a:ext>
              </a:extLst>
            </p:cNvPr>
            <p:cNvCxnSpPr>
              <a:cxnSpLocks/>
            </p:cNvCxnSpPr>
            <p:nvPr/>
          </p:nvCxnSpPr>
          <p:spPr>
            <a:xfrm>
              <a:off x="6207018" y="305449"/>
              <a:ext cx="0" cy="37711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614667-2BC2-4758-3BFE-8D81EDEFC00D}"/>
                </a:ext>
              </a:extLst>
            </p:cNvPr>
            <p:cNvSpPr/>
            <p:nvPr/>
          </p:nvSpPr>
          <p:spPr>
            <a:xfrm>
              <a:off x="5734313" y="687994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D80C660-E5F4-9B83-B921-F49BB8D65F84}"/>
                </a:ext>
              </a:extLst>
            </p:cNvPr>
            <p:cNvCxnSpPr>
              <a:cxnSpLocks/>
            </p:cNvCxnSpPr>
            <p:nvPr/>
          </p:nvCxnSpPr>
          <p:spPr>
            <a:xfrm>
              <a:off x="8254868" y="287749"/>
              <a:ext cx="0" cy="38119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1FC16C5-4655-2A05-E916-20E9353C6EDE}"/>
                </a:ext>
              </a:extLst>
            </p:cNvPr>
            <p:cNvCxnSpPr>
              <a:cxnSpLocks/>
            </p:cNvCxnSpPr>
            <p:nvPr/>
          </p:nvCxnSpPr>
          <p:spPr>
            <a:xfrm>
              <a:off x="9798518" y="287749"/>
              <a:ext cx="0" cy="106607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99818B9-13BA-6E41-2506-6106E5DD74CD}"/>
              </a:ext>
            </a:extLst>
          </p:cNvPr>
          <p:cNvSpPr txBox="1"/>
          <p:nvPr/>
        </p:nvSpPr>
        <p:spPr>
          <a:xfrm>
            <a:off x="-137022" y="210742"/>
            <a:ext cx="22930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Baseline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confounders</a:t>
            </a:r>
            <a:br>
              <a:rPr lang="en-US" dirty="0"/>
            </a:br>
            <a:r>
              <a:rPr lang="en-US" dirty="0"/>
              <a:t>age</a:t>
            </a:r>
          </a:p>
          <a:p>
            <a:pPr algn="ctr"/>
            <a:r>
              <a:rPr lang="en-US" dirty="0"/>
              <a:t>education</a:t>
            </a:r>
          </a:p>
          <a:p>
            <a:pPr algn="ctr"/>
            <a:r>
              <a:rPr lang="en-US" dirty="0"/>
              <a:t>income</a:t>
            </a:r>
          </a:p>
          <a:p>
            <a:pPr algn="ctr"/>
            <a:r>
              <a:rPr lang="en-US" dirty="0"/>
              <a:t>health insurance</a:t>
            </a:r>
          </a:p>
          <a:p>
            <a:pPr algn="ctr"/>
            <a:r>
              <a:rPr lang="en-US" dirty="0"/>
              <a:t>smoking </a:t>
            </a:r>
          </a:p>
          <a:p>
            <a:pPr algn="ctr"/>
            <a:r>
              <a:rPr lang="en-US" dirty="0"/>
              <a:t>alcohol</a:t>
            </a:r>
          </a:p>
          <a:p>
            <a:pPr algn="ctr"/>
            <a:r>
              <a:rPr lang="en-US" dirty="0"/>
              <a:t>cholesterol</a:t>
            </a:r>
          </a:p>
          <a:p>
            <a:pPr algn="ctr"/>
            <a:r>
              <a:rPr lang="en-US" dirty="0"/>
              <a:t>LDL</a:t>
            </a:r>
          </a:p>
          <a:p>
            <a:pPr algn="ctr"/>
            <a:r>
              <a:rPr lang="en-US" dirty="0"/>
              <a:t>BMI</a:t>
            </a:r>
          </a:p>
          <a:p>
            <a:pPr algn="ctr"/>
            <a:r>
              <a:rPr lang="en-US" dirty="0"/>
              <a:t>history of stroke diabetes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1137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9861-4DAC-4405-371D-0927CDA6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26620AA-16B5-84CB-45C2-1100FFE82F5F}"/>
              </a:ext>
            </a:extLst>
          </p:cNvPr>
          <p:cNvGrpSpPr/>
          <p:nvPr/>
        </p:nvGrpSpPr>
        <p:grpSpPr>
          <a:xfrm>
            <a:off x="1805821" y="277509"/>
            <a:ext cx="9109980" cy="3154102"/>
            <a:chOff x="1579491" y="277507"/>
            <a:chExt cx="9109980" cy="315410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A6F2744-C262-6FA9-85C6-239C4DA4A5E7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H="1">
              <a:off x="4266417" y="277507"/>
              <a:ext cx="3810" cy="40808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4485388-20E3-8617-9FC2-E689BBA52721}"/>
                </a:ext>
              </a:extLst>
            </p:cNvPr>
            <p:cNvCxnSpPr>
              <a:cxnSpLocks/>
            </p:cNvCxnSpPr>
            <p:nvPr/>
          </p:nvCxnSpPr>
          <p:spPr>
            <a:xfrm>
              <a:off x="6460653" y="1623117"/>
              <a:ext cx="2421014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B4C0A77-0B11-0FD8-1226-F41DC21F03C1}"/>
                </a:ext>
              </a:extLst>
            </p:cNvPr>
            <p:cNvCxnSpPr>
              <a:cxnSpLocks/>
            </p:cNvCxnSpPr>
            <p:nvPr/>
          </p:nvCxnSpPr>
          <p:spPr>
            <a:xfrm>
              <a:off x="1933949" y="1607741"/>
              <a:ext cx="4945708" cy="15376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2894E57-2943-74A7-3640-5422A732AEE8}"/>
                </a:ext>
              </a:extLst>
            </p:cNvPr>
            <p:cNvCxnSpPr>
              <a:cxnSpLocks/>
              <a:stCxn id="8" idx="2"/>
              <a:endCxn id="29" idx="0"/>
            </p:cNvCxnSpPr>
            <p:nvPr/>
          </p:nvCxnSpPr>
          <p:spPr>
            <a:xfrm>
              <a:off x="4266417" y="1231680"/>
              <a:ext cx="897754" cy="968823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A073AAB-2597-14C8-3819-9E4F6BA16D8A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5164171" y="1234087"/>
              <a:ext cx="1053618" cy="939209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F90957-444E-1A3C-C231-DC6BA8A1C636}"/>
                </a:ext>
              </a:extLst>
            </p:cNvPr>
            <p:cNvSpPr/>
            <p:nvPr/>
          </p:nvSpPr>
          <p:spPr>
            <a:xfrm>
              <a:off x="3782941" y="685587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106701-6A7F-9DD2-C319-65FC8F0314BA}"/>
                </a:ext>
              </a:extLst>
            </p:cNvPr>
            <p:cNvSpPr txBox="1"/>
            <p:nvPr/>
          </p:nvSpPr>
          <p:spPr>
            <a:xfrm>
              <a:off x="1579491" y="543134"/>
              <a:ext cx="205201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Time-varying exposure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F776B3-4D41-1F3F-91DE-3B7D971C0D93}"/>
                </a:ext>
              </a:extLst>
            </p:cNvPr>
            <p:cNvSpPr txBox="1"/>
            <p:nvPr/>
          </p:nvSpPr>
          <p:spPr>
            <a:xfrm>
              <a:off x="2193286" y="1628551"/>
              <a:ext cx="9802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7030A0"/>
                  </a:solidFill>
                </a:rPr>
                <a:t>Time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51DB7A-6057-99BC-96CD-E4E07B305798}"/>
                </a:ext>
              </a:extLst>
            </p:cNvPr>
            <p:cNvSpPr/>
            <p:nvPr/>
          </p:nvSpPr>
          <p:spPr>
            <a:xfrm>
              <a:off x="7771392" y="685587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A9837EB-10B2-683D-5526-435983994645}"/>
                </a:ext>
              </a:extLst>
            </p:cNvPr>
            <p:cNvSpPr txBox="1"/>
            <p:nvPr/>
          </p:nvSpPr>
          <p:spPr>
            <a:xfrm>
              <a:off x="1616846" y="2223596"/>
              <a:ext cx="201466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</a:rPr>
                <a:t>Time-varying confounders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474175-8A16-D5D1-21D7-8391C1127392}"/>
                </a:ext>
              </a:extLst>
            </p:cNvPr>
            <p:cNvSpPr txBox="1"/>
            <p:nvPr/>
          </p:nvSpPr>
          <p:spPr>
            <a:xfrm>
              <a:off x="4122018" y="1559290"/>
              <a:ext cx="414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1</a:t>
              </a:r>
              <a:endParaRPr lang="en-US" sz="2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822164-3662-085E-83F0-F53CCE99771D}"/>
                </a:ext>
              </a:extLst>
            </p:cNvPr>
            <p:cNvSpPr txBox="1"/>
            <p:nvPr/>
          </p:nvSpPr>
          <p:spPr>
            <a:xfrm>
              <a:off x="6019357" y="1580961"/>
              <a:ext cx="414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2</a:t>
              </a:r>
              <a:endParaRPr lang="en-US" sz="24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735472-128E-9395-DBAF-530088B730EC}"/>
                </a:ext>
              </a:extLst>
            </p:cNvPr>
            <p:cNvSpPr txBox="1"/>
            <p:nvPr/>
          </p:nvSpPr>
          <p:spPr>
            <a:xfrm flipH="1">
              <a:off x="8207703" y="1580961"/>
              <a:ext cx="41408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n</a:t>
              </a:r>
              <a:endParaRPr lang="en-US" sz="24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9F26C2-DE8A-BFC8-2478-E96093FF797E}"/>
                </a:ext>
              </a:extLst>
            </p:cNvPr>
            <p:cNvSpPr txBox="1"/>
            <p:nvPr/>
          </p:nvSpPr>
          <p:spPr>
            <a:xfrm>
              <a:off x="4285763" y="2200503"/>
              <a:ext cx="1756816" cy="123110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dirty="0"/>
                <a:t>smoking,</a:t>
              </a:r>
            </a:p>
            <a:p>
              <a:pPr algn="ctr"/>
              <a:r>
                <a:rPr lang="en-US" sz="2000" dirty="0"/>
                <a:t>alcohol,</a:t>
              </a:r>
            </a:p>
            <a:p>
              <a:pPr algn="ctr"/>
              <a:r>
                <a:rPr lang="en-US" sz="2000" dirty="0"/>
                <a:t>lipids, BMI,</a:t>
              </a:r>
            </a:p>
            <a:p>
              <a:pPr algn="ctr"/>
              <a:r>
                <a:rPr lang="en-US" sz="2000" dirty="0"/>
                <a:t>MI, </a:t>
              </a:r>
              <a:r>
                <a:rPr lang="en-US" sz="2000" dirty="0">
                  <a:solidFill>
                    <a:schemeClr val="dk1"/>
                  </a:solidFill>
                </a:rPr>
                <a:t>stroke, CHD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35990A-139C-D36F-7295-3A4259E20D41}"/>
                </a:ext>
              </a:extLst>
            </p:cNvPr>
            <p:cNvSpPr txBox="1"/>
            <p:nvPr/>
          </p:nvSpPr>
          <p:spPr>
            <a:xfrm>
              <a:off x="8738344" y="1353828"/>
              <a:ext cx="19511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</a:rPr>
                <a:t>Outcome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77C5F67-C003-31C4-2E59-10F15F5BD270}"/>
                </a:ext>
              </a:extLst>
            </p:cNvPr>
            <p:cNvSpPr txBox="1"/>
            <p:nvPr/>
          </p:nvSpPr>
          <p:spPr>
            <a:xfrm>
              <a:off x="9134375" y="1846016"/>
              <a:ext cx="1189148" cy="61555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dk1"/>
                  </a:solidFill>
                </a:rPr>
                <a:t>dementia death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98C19A3-DA1F-0D60-135E-320678934BA4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4255646" y="1231680"/>
              <a:ext cx="10771" cy="39143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AE415E9-DDF7-2464-2CDE-C18FB11A3346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6217789" y="1234087"/>
              <a:ext cx="5839" cy="37606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B6E8445-B8B6-99A7-4835-B4EC967B3CB4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8254868" y="1231680"/>
              <a:ext cx="4213" cy="355475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F900AD-832A-7FAF-9A48-46C21912BE7F}"/>
                </a:ext>
              </a:extLst>
            </p:cNvPr>
            <p:cNvCxnSpPr>
              <a:cxnSpLocks/>
            </p:cNvCxnSpPr>
            <p:nvPr/>
          </p:nvCxnSpPr>
          <p:spPr>
            <a:xfrm>
              <a:off x="4255646" y="287749"/>
              <a:ext cx="554287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05A457-0E08-8CD2-9B1B-774B5C3F7C36}"/>
                </a:ext>
              </a:extLst>
            </p:cNvPr>
            <p:cNvCxnSpPr>
              <a:cxnSpLocks/>
            </p:cNvCxnSpPr>
            <p:nvPr/>
          </p:nvCxnSpPr>
          <p:spPr>
            <a:xfrm>
              <a:off x="6207018" y="305449"/>
              <a:ext cx="0" cy="37711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EB9339-7DD8-2439-7E0C-811F0CD60688}"/>
                </a:ext>
              </a:extLst>
            </p:cNvPr>
            <p:cNvSpPr/>
            <p:nvPr/>
          </p:nvSpPr>
          <p:spPr>
            <a:xfrm>
              <a:off x="5734313" y="687994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246E81B-8ED8-8A2E-5462-90532A4681D4}"/>
                </a:ext>
              </a:extLst>
            </p:cNvPr>
            <p:cNvCxnSpPr>
              <a:cxnSpLocks/>
            </p:cNvCxnSpPr>
            <p:nvPr/>
          </p:nvCxnSpPr>
          <p:spPr>
            <a:xfrm>
              <a:off x="8254868" y="287749"/>
              <a:ext cx="0" cy="38119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C2B40BE-2B89-0FCB-B570-6D929CB0D347}"/>
                </a:ext>
              </a:extLst>
            </p:cNvPr>
            <p:cNvCxnSpPr>
              <a:cxnSpLocks/>
            </p:cNvCxnSpPr>
            <p:nvPr/>
          </p:nvCxnSpPr>
          <p:spPr>
            <a:xfrm>
              <a:off x="9798518" y="287749"/>
              <a:ext cx="0" cy="106607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6C00244-93BC-5D69-CC0F-A4D41E4DBFB8}"/>
              </a:ext>
            </a:extLst>
          </p:cNvPr>
          <p:cNvSpPr txBox="1"/>
          <p:nvPr/>
        </p:nvSpPr>
        <p:spPr>
          <a:xfrm>
            <a:off x="-137022" y="210742"/>
            <a:ext cx="22930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Baseline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confounders</a:t>
            </a:r>
            <a:br>
              <a:rPr lang="en-US" dirty="0"/>
            </a:br>
            <a:r>
              <a:rPr lang="en-US" dirty="0"/>
              <a:t>age</a:t>
            </a:r>
          </a:p>
          <a:p>
            <a:pPr algn="ctr"/>
            <a:r>
              <a:rPr lang="en-US" dirty="0"/>
              <a:t>education</a:t>
            </a:r>
          </a:p>
          <a:p>
            <a:pPr algn="ctr"/>
            <a:r>
              <a:rPr lang="en-US" dirty="0"/>
              <a:t>income</a:t>
            </a:r>
          </a:p>
          <a:p>
            <a:pPr algn="ctr"/>
            <a:r>
              <a:rPr lang="en-US" dirty="0"/>
              <a:t>health insurance</a:t>
            </a:r>
          </a:p>
          <a:p>
            <a:pPr algn="ctr"/>
            <a:r>
              <a:rPr lang="en-US" dirty="0"/>
              <a:t>smoking </a:t>
            </a:r>
          </a:p>
          <a:p>
            <a:pPr algn="ctr"/>
            <a:r>
              <a:rPr lang="en-US" dirty="0"/>
              <a:t>alcohol</a:t>
            </a:r>
          </a:p>
          <a:p>
            <a:pPr algn="ctr"/>
            <a:r>
              <a:rPr lang="en-US" dirty="0"/>
              <a:t>cholesterol</a:t>
            </a:r>
          </a:p>
          <a:p>
            <a:pPr algn="ctr"/>
            <a:r>
              <a:rPr lang="en-US" dirty="0"/>
              <a:t>LDL</a:t>
            </a:r>
          </a:p>
          <a:p>
            <a:pPr algn="ctr"/>
            <a:r>
              <a:rPr lang="en-US" dirty="0"/>
              <a:t>BMI</a:t>
            </a:r>
          </a:p>
          <a:p>
            <a:pPr algn="ctr"/>
            <a:r>
              <a:rPr lang="en-US" dirty="0"/>
              <a:t>history of stroke diabetes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23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F456-79E1-2BD7-5CF9-CD055A0DB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3456EDF-73B7-AA08-322A-571068C8D2BA}"/>
              </a:ext>
            </a:extLst>
          </p:cNvPr>
          <p:cNvGrpSpPr/>
          <p:nvPr/>
        </p:nvGrpSpPr>
        <p:grpSpPr>
          <a:xfrm>
            <a:off x="1805821" y="277509"/>
            <a:ext cx="9109980" cy="3154102"/>
            <a:chOff x="1579491" y="277507"/>
            <a:chExt cx="9109980" cy="315410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841E269-6D34-ACF5-42DE-C5B1F59AD16F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H="1">
              <a:off x="4266417" y="277507"/>
              <a:ext cx="3810" cy="40808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7779B1-29A3-B33C-6294-A7771C500157}"/>
                </a:ext>
              </a:extLst>
            </p:cNvPr>
            <p:cNvCxnSpPr>
              <a:cxnSpLocks/>
            </p:cNvCxnSpPr>
            <p:nvPr/>
          </p:nvCxnSpPr>
          <p:spPr>
            <a:xfrm>
              <a:off x="6460653" y="1623117"/>
              <a:ext cx="2421014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2AB3E02-3BCA-9334-5135-E1C455FD6C1C}"/>
                </a:ext>
              </a:extLst>
            </p:cNvPr>
            <p:cNvCxnSpPr>
              <a:cxnSpLocks/>
            </p:cNvCxnSpPr>
            <p:nvPr/>
          </p:nvCxnSpPr>
          <p:spPr>
            <a:xfrm>
              <a:off x="1933949" y="1607741"/>
              <a:ext cx="4945708" cy="15376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7A73470-439D-6221-445F-3CAB0E4D8C39}"/>
                </a:ext>
              </a:extLst>
            </p:cNvPr>
            <p:cNvCxnSpPr>
              <a:cxnSpLocks/>
              <a:stCxn id="8" idx="2"/>
              <a:endCxn id="29" idx="0"/>
            </p:cNvCxnSpPr>
            <p:nvPr/>
          </p:nvCxnSpPr>
          <p:spPr>
            <a:xfrm>
              <a:off x="4266417" y="1231680"/>
              <a:ext cx="897754" cy="968823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24A72F3-A49D-10FF-7377-3AF178D9C801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5164171" y="1234087"/>
              <a:ext cx="1053618" cy="939209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5FA0B8F-F03E-77FE-831E-CE21CBAEC695}"/>
                </a:ext>
              </a:extLst>
            </p:cNvPr>
            <p:cNvCxnSpPr>
              <a:cxnSpLocks/>
            </p:cNvCxnSpPr>
            <p:nvPr/>
          </p:nvCxnSpPr>
          <p:spPr>
            <a:xfrm>
              <a:off x="6042579" y="2797663"/>
              <a:ext cx="470188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79C5FF-476F-0905-DFC4-ECB6D01AE939}"/>
                </a:ext>
              </a:extLst>
            </p:cNvPr>
            <p:cNvSpPr/>
            <p:nvPr/>
          </p:nvSpPr>
          <p:spPr>
            <a:xfrm>
              <a:off x="3782941" y="685587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37F0A0-0DC8-7F2F-3C99-AE7D012F86AD}"/>
                </a:ext>
              </a:extLst>
            </p:cNvPr>
            <p:cNvSpPr txBox="1"/>
            <p:nvPr/>
          </p:nvSpPr>
          <p:spPr>
            <a:xfrm>
              <a:off x="1579491" y="543134"/>
              <a:ext cx="205201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70C0"/>
                  </a:solidFill>
                </a:rPr>
                <a:t>Time-varying exposure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8DB44D-05F5-6365-02BF-22C5F12C3195}"/>
                </a:ext>
              </a:extLst>
            </p:cNvPr>
            <p:cNvSpPr txBox="1"/>
            <p:nvPr/>
          </p:nvSpPr>
          <p:spPr>
            <a:xfrm>
              <a:off x="2193286" y="1628551"/>
              <a:ext cx="9802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7030A0"/>
                  </a:solidFill>
                </a:rPr>
                <a:t>Time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F413BA-F938-3330-87B3-260CB77473D0}"/>
                </a:ext>
              </a:extLst>
            </p:cNvPr>
            <p:cNvSpPr/>
            <p:nvPr/>
          </p:nvSpPr>
          <p:spPr>
            <a:xfrm>
              <a:off x="7771392" y="685587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731DFE-DA82-C594-CCF6-D071363F661E}"/>
                </a:ext>
              </a:extLst>
            </p:cNvPr>
            <p:cNvSpPr txBox="1"/>
            <p:nvPr/>
          </p:nvSpPr>
          <p:spPr>
            <a:xfrm>
              <a:off x="1616846" y="2223596"/>
              <a:ext cx="201466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</a:rPr>
                <a:t>Time-varying confounders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B21FBE-D361-2BA5-EE22-E021F11BAF3E}"/>
                </a:ext>
              </a:extLst>
            </p:cNvPr>
            <p:cNvSpPr txBox="1"/>
            <p:nvPr/>
          </p:nvSpPr>
          <p:spPr>
            <a:xfrm>
              <a:off x="4122018" y="1559290"/>
              <a:ext cx="414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1</a:t>
              </a:r>
              <a:endParaRPr lang="en-US" sz="2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F160F5-4C19-6139-3980-0AC6822587D6}"/>
                </a:ext>
              </a:extLst>
            </p:cNvPr>
            <p:cNvSpPr txBox="1"/>
            <p:nvPr/>
          </p:nvSpPr>
          <p:spPr>
            <a:xfrm>
              <a:off x="6019357" y="1580961"/>
              <a:ext cx="414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2</a:t>
              </a:r>
              <a:endParaRPr lang="en-US" sz="24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DDFEED9-9C77-9E00-969B-F1305D4BF285}"/>
                </a:ext>
              </a:extLst>
            </p:cNvPr>
            <p:cNvSpPr txBox="1"/>
            <p:nvPr/>
          </p:nvSpPr>
          <p:spPr>
            <a:xfrm flipH="1">
              <a:off x="8207703" y="1580961"/>
              <a:ext cx="41408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solidFill>
                    <a:srgbClr val="7030A0"/>
                  </a:solidFill>
                </a:rPr>
                <a:t>t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n</a:t>
              </a:r>
              <a:endParaRPr lang="en-US" sz="24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C92041-467F-DBA8-B2E1-E81F894415D1}"/>
                </a:ext>
              </a:extLst>
            </p:cNvPr>
            <p:cNvSpPr txBox="1"/>
            <p:nvPr/>
          </p:nvSpPr>
          <p:spPr>
            <a:xfrm>
              <a:off x="4285763" y="2200503"/>
              <a:ext cx="1756816" cy="123110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dirty="0"/>
                <a:t>smoking,</a:t>
              </a:r>
            </a:p>
            <a:p>
              <a:pPr algn="ctr"/>
              <a:r>
                <a:rPr lang="en-US" sz="2000" dirty="0"/>
                <a:t>alcohol,</a:t>
              </a:r>
            </a:p>
            <a:p>
              <a:pPr algn="ctr"/>
              <a:r>
                <a:rPr lang="en-US" sz="2000" dirty="0"/>
                <a:t>lipids, BMI,</a:t>
              </a:r>
            </a:p>
            <a:p>
              <a:pPr algn="ctr"/>
              <a:r>
                <a:rPr lang="en-US" sz="2000" dirty="0"/>
                <a:t>MI, </a:t>
              </a:r>
              <a:r>
                <a:rPr lang="en-US" sz="2000" dirty="0">
                  <a:solidFill>
                    <a:schemeClr val="dk1"/>
                  </a:solidFill>
                </a:rPr>
                <a:t>stroke, CHD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AB869AB-2767-506C-BBCF-154FF9499E7E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6217789" y="1234087"/>
              <a:ext cx="1158501" cy="948023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6FF3492-6C98-331E-9CE0-4467F5687E44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7418554" y="1231680"/>
              <a:ext cx="836314" cy="946809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4015137-15AD-1B87-DF2F-7FC1651A03B0}"/>
                </a:ext>
              </a:extLst>
            </p:cNvPr>
            <p:cNvSpPr txBox="1"/>
            <p:nvPr/>
          </p:nvSpPr>
          <p:spPr>
            <a:xfrm>
              <a:off x="6613061" y="2182110"/>
              <a:ext cx="1756816" cy="123110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dirty="0"/>
                <a:t>smoking,</a:t>
              </a:r>
            </a:p>
            <a:p>
              <a:pPr algn="ctr"/>
              <a:r>
                <a:rPr lang="en-US" sz="2000" dirty="0"/>
                <a:t>alcohol,</a:t>
              </a:r>
            </a:p>
            <a:p>
              <a:pPr algn="ctr"/>
              <a:r>
                <a:rPr lang="en-US" sz="2000" dirty="0"/>
                <a:t>lipids, BMI,</a:t>
              </a:r>
            </a:p>
            <a:p>
              <a:pPr algn="ctr"/>
              <a:r>
                <a:rPr lang="en-US" sz="2000" dirty="0"/>
                <a:t>MI, </a:t>
              </a:r>
              <a:r>
                <a:rPr lang="en-US" sz="2000" dirty="0">
                  <a:solidFill>
                    <a:schemeClr val="dk1"/>
                  </a:solidFill>
                </a:rPr>
                <a:t>stroke, CHD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4D71B7E-9926-A0E4-04DE-F15BF44090B3}"/>
                </a:ext>
              </a:extLst>
            </p:cNvPr>
            <p:cNvSpPr txBox="1"/>
            <p:nvPr/>
          </p:nvSpPr>
          <p:spPr>
            <a:xfrm>
              <a:off x="8738344" y="1353828"/>
              <a:ext cx="19511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</a:rPr>
                <a:t>Outcome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373308-7D84-02AC-5FF0-88A98BDED406}"/>
                </a:ext>
              </a:extLst>
            </p:cNvPr>
            <p:cNvSpPr txBox="1"/>
            <p:nvPr/>
          </p:nvSpPr>
          <p:spPr>
            <a:xfrm>
              <a:off x="9134375" y="1846016"/>
              <a:ext cx="1189148" cy="61555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dk1"/>
                  </a:solidFill>
                </a:rPr>
                <a:t>dementia death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F183739-9B82-5011-8391-FCEB828BB866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4255646" y="1231680"/>
              <a:ext cx="10771" cy="39143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F3A6F34-DF59-2F09-99B1-73A4A4C4C898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6217789" y="1234087"/>
              <a:ext cx="5839" cy="37606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7932F04-AAB5-8FC6-F468-1AC332D4F7A7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8254868" y="1231680"/>
              <a:ext cx="4213" cy="355475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682E25-8EF0-0CF6-F002-1ED6E77745DE}"/>
                </a:ext>
              </a:extLst>
            </p:cNvPr>
            <p:cNvCxnSpPr>
              <a:cxnSpLocks/>
            </p:cNvCxnSpPr>
            <p:nvPr/>
          </p:nvCxnSpPr>
          <p:spPr>
            <a:xfrm>
              <a:off x="4255646" y="287749"/>
              <a:ext cx="554287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F15BC3A-FE9A-BFDF-42F3-0F80973D23CD}"/>
                </a:ext>
              </a:extLst>
            </p:cNvPr>
            <p:cNvCxnSpPr>
              <a:cxnSpLocks/>
            </p:cNvCxnSpPr>
            <p:nvPr/>
          </p:nvCxnSpPr>
          <p:spPr>
            <a:xfrm>
              <a:off x="6207018" y="305449"/>
              <a:ext cx="0" cy="37711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F488D7-A50E-2B52-54E7-8FE00CE1AF04}"/>
                </a:ext>
              </a:extLst>
            </p:cNvPr>
            <p:cNvSpPr/>
            <p:nvPr/>
          </p:nvSpPr>
          <p:spPr>
            <a:xfrm>
              <a:off x="5734313" y="687994"/>
              <a:ext cx="966952" cy="546093"/>
            </a:xfrm>
            <a:prstGeom prst="rect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SBP</a:t>
              </a:r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502A409-1078-6A71-560D-1A033FE1284C}"/>
                </a:ext>
              </a:extLst>
            </p:cNvPr>
            <p:cNvCxnSpPr>
              <a:cxnSpLocks/>
            </p:cNvCxnSpPr>
            <p:nvPr/>
          </p:nvCxnSpPr>
          <p:spPr>
            <a:xfrm>
              <a:off x="8254868" y="287749"/>
              <a:ext cx="0" cy="38119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B1008DE-20DA-17B0-534A-12A13C8DA07A}"/>
                </a:ext>
              </a:extLst>
            </p:cNvPr>
            <p:cNvCxnSpPr>
              <a:cxnSpLocks/>
            </p:cNvCxnSpPr>
            <p:nvPr/>
          </p:nvCxnSpPr>
          <p:spPr>
            <a:xfrm>
              <a:off x="9798518" y="287749"/>
              <a:ext cx="0" cy="106607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47DDD8-E97C-9A98-3AEC-99CB1CF22C29}"/>
              </a:ext>
            </a:extLst>
          </p:cNvPr>
          <p:cNvSpPr txBox="1"/>
          <p:nvPr/>
        </p:nvSpPr>
        <p:spPr>
          <a:xfrm>
            <a:off x="-137022" y="210742"/>
            <a:ext cx="22930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Baseline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confounders</a:t>
            </a:r>
            <a:br>
              <a:rPr lang="en-US" dirty="0"/>
            </a:br>
            <a:r>
              <a:rPr lang="en-US" dirty="0"/>
              <a:t>age</a:t>
            </a:r>
          </a:p>
          <a:p>
            <a:pPr algn="ctr"/>
            <a:r>
              <a:rPr lang="en-US" dirty="0"/>
              <a:t>education</a:t>
            </a:r>
          </a:p>
          <a:p>
            <a:pPr algn="ctr"/>
            <a:r>
              <a:rPr lang="en-US" dirty="0"/>
              <a:t>income</a:t>
            </a:r>
          </a:p>
          <a:p>
            <a:pPr algn="ctr"/>
            <a:r>
              <a:rPr lang="en-US" dirty="0"/>
              <a:t>health insurance</a:t>
            </a:r>
          </a:p>
          <a:p>
            <a:pPr algn="ctr"/>
            <a:r>
              <a:rPr lang="en-US" dirty="0"/>
              <a:t>smoking </a:t>
            </a:r>
          </a:p>
          <a:p>
            <a:pPr algn="ctr"/>
            <a:r>
              <a:rPr lang="en-US" dirty="0"/>
              <a:t>alcohol</a:t>
            </a:r>
          </a:p>
          <a:p>
            <a:pPr algn="ctr"/>
            <a:r>
              <a:rPr lang="en-US" dirty="0"/>
              <a:t>cholesterol</a:t>
            </a:r>
          </a:p>
          <a:p>
            <a:pPr algn="ctr"/>
            <a:r>
              <a:rPr lang="en-US" dirty="0"/>
              <a:t>LDL</a:t>
            </a:r>
          </a:p>
          <a:p>
            <a:pPr algn="ctr"/>
            <a:r>
              <a:rPr lang="en-US" dirty="0"/>
              <a:t>BMI</a:t>
            </a:r>
          </a:p>
          <a:p>
            <a:pPr algn="ctr"/>
            <a:r>
              <a:rPr lang="en-US" dirty="0"/>
              <a:t>history of stroke diabetes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30499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6083</TotalTime>
  <Words>142</Words>
  <Application>Microsoft Macintosh PowerPoint</Application>
  <PresentationFormat>Custom</PresentationFormat>
  <Paragraphs>87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Liliana Rojas Saunero</dc:creator>
  <cp:lastModifiedBy>Liliana Rojas Saunero</cp:lastModifiedBy>
  <cp:revision>3</cp:revision>
  <dcterms:created xsi:type="dcterms:W3CDTF">2026-01-23T18:28:10Z</dcterms:created>
  <dcterms:modified xsi:type="dcterms:W3CDTF">2026-01-28T19:23:21Z</dcterms:modified>
</cp:coreProperties>
</file>